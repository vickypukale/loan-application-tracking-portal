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05840"/>
            <a:ext cx="2926080" cy="411480"/>
          </a:xfrm>
          <a:prstGeom prst="roundRect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CAPSTONE DEVOPS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Secure CI/CD Pipeline for a</a:t>
            </a:r>
            <a:br/>
            <a:r>
              <a:t>Loan Application Tracking Portal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Enterprise-Grade Automation with Jenkins, Selenium, Docker, Ansible &amp; SBI Domain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62895" cy="1554480"/>
          </a:xfrm>
          <a:prstGeom prst="roundRect">
            <a:avLst/>
          </a:prstGeom>
          <a:solidFill>
            <a:srgbClr val="172A4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06908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B823C"/>
                </a:solidFill>
              </a:defRPr>
            </a:pPr>
            <a:r>
              <a:t>CANDIDATE &amp; EXAMINATION CREDENTIALS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Lead Engineer: Vicky Vilas Pukale  |  Roll Number: 23102A0033  |  Release: v2.0.0-final</a:t>
            </a:r>
          </a:p>
          <a:p>
            <a:pPr>
              <a:spcBef>
                <a:spcPts val="600"/>
              </a:spcBef>
              <a:defRPr sz="1200">
                <a:solidFill>
                  <a:srgbClr val="00A896"/>
                </a:solidFill>
              </a:defRPr>
            </a:pPr>
            <a:r>
              <a:t>Tech Stack: Java 17 LTS  •  Spring Boot 3.2  •  Jenkinsfile  •  Docker Multi-Stage  •  Ansible IaC  •  Persistent H2 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State Bank of India (SBI) Retail Lending Underwriting Standard  |  15-Task Complete DevOps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A4"/>
                </a:solidFill>
              </a:defRPr>
            </a:pPr>
            <a:r>
              <a:t>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Executive Overview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Operational Friction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Opaque Processing: Retail borrowers have zero real-time visibility into their application lifecycle.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Manual Underwriting Delays: Offline evaluation of CIBIL credit scores and debt ratios takes 5-7 days.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Configuration Drift: Inconsistent server setups cause 'it works on my machine' production bugs.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Manual Deployment Risks: High downtime risk without automated health checks or rollback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4747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3108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A4"/>
                </a:solidFill>
              </a:defRPr>
            </a:pPr>
            <a:r>
              <a:t>The DevOps Solution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Spring Boot Web Portal: Responsive UI for loan intake, KPI analytics, status drill-down, and exception queue.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Zero-Touch CI/CD: Declarative Jenkins pipeline triggering build, test, and container deploy on Git push.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Headless Selenium Gate: Automated UI regression suite preventing defective code from reaching production.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Idempotent Ansible IaC: Automated server configuration with verified zero-drift guarantee.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Sub-15s Rollback: Immediate container replacement upon health failure.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371600"/>
            <a:ext cx="329184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554480"/>
            <a:ext cx="2926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Key Project Outcomes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19/19 Tests Passing: 100% pass rate across JUnit 5 unit tests and Selenium E2E journeys.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Port Isolation Matrix: Zero port conflict (Port 8080 Jenkins vs Port 8081 App).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Persistent Local Storage: H2 file-based persistent DB storing loans, events, and KYC documents.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SBI 4-Pillar Integration: Real-world automated underwriting (CIBIL &gt;= 750, FOIR &lt;= 50%, Age 21-60).</a:t>
            </a:r>
          </a:p>
          <a:p>
            <a:pPr>
              <a:spcBef>
                <a:spcPts val="1000"/>
              </a:spcBef>
              <a:defRPr sz="1200">
                <a:solidFill>
                  <a:srgbClr val="1E293B"/>
                </a:solidFill>
              </a:defRPr>
            </a:pPr>
            <a:r>
              <a:t>• DORA Excellence: Sub-5 min lead time, 0% change failure 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A4"/>
                </a:solidFill>
              </a:defRPr>
            </a:pPr>
            <a:r>
              <a:t>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End-to-End CI/CD Pipeline &amp; Infrastructure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574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057400" cy="109728"/>
          </a:xfrm>
          <a:prstGeom prst="rect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874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1. Git Workstation</a:t>
            </a:r>
          </a:p>
          <a:p>
            <a:pPr>
              <a:spcBef>
                <a:spcPts val="300"/>
              </a:spcBef>
              <a:defRPr sz="1000" b="1">
                <a:solidFill>
                  <a:srgbClr val="1A56A4"/>
                </a:solidFill>
              </a:defRPr>
            </a:pPr>
            <a:r>
              <a:t>Version Control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Feature branching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Commit &amp; Push to main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Release tag v2.0.0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Signed commits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3512" y="1371600"/>
            <a:ext cx="20574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53512" y="1371600"/>
            <a:ext cx="2057400" cy="10972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2" y="1554480"/>
            <a:ext cx="1874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2. Jenkins CI Server</a:t>
            </a:r>
          </a:p>
          <a:p>
            <a:pPr>
              <a:spcBef>
                <a:spcPts val="300"/>
              </a:spcBef>
              <a:defRPr sz="1000" b="1">
                <a:solidFill>
                  <a:srgbClr val="7E3AF2"/>
                </a:solidFill>
              </a:defRPr>
            </a:pPr>
            <a:r>
              <a:t>Pipeline as Code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Port 8080 Isolation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SCM Checkout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Maven Compilation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JUnit 5 Unit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75504" y="1371600"/>
            <a:ext cx="20574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75504" y="1371600"/>
            <a:ext cx="205740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66944" y="1554480"/>
            <a:ext cx="1874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3. Quality Gate</a:t>
            </a:r>
          </a:p>
          <a:p>
            <a:pPr>
              <a:spcBef>
                <a:spcPts val="300"/>
              </a:spcBef>
              <a:defRPr sz="1000" b="1">
                <a:solidFill>
                  <a:srgbClr val="DC2626"/>
                </a:solidFill>
              </a:defRPr>
            </a:pPr>
            <a:r>
              <a:t>Automated UI Testing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Headless Chrome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Selenium WebDriver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6 E2E User Journeys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Screenshot on failure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97496" y="1371600"/>
            <a:ext cx="20574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97496" y="1371600"/>
            <a:ext cx="2057400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88936" y="1554480"/>
            <a:ext cx="1874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4. Docker Engine</a:t>
            </a:r>
          </a:p>
          <a:p>
            <a:pPr>
              <a:spcBef>
                <a:spcPts val="300"/>
              </a:spcBef>
              <a:defRPr sz="1000" b="1">
                <a:solidFill>
                  <a:srgbClr val="00A896"/>
                </a:solidFill>
              </a:defRPr>
            </a:pPr>
            <a:r>
              <a:t>Containerization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Multi-stage Dockerfile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Alpine JRE 17 runtime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Non-root 'appuser'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Tagged image build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19488" y="1371600"/>
            <a:ext cx="20574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19488" y="1371600"/>
            <a:ext cx="20574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10928" y="1554480"/>
            <a:ext cx="1874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5. Target Host</a:t>
            </a:r>
          </a:p>
          <a:p>
            <a:pPr>
              <a:spcBef>
                <a:spcPts val="300"/>
              </a:spcBef>
              <a:defRPr sz="1000" b="1">
                <a:solidFill>
                  <a:srgbClr val="16A34A"/>
                </a:solidFill>
              </a:defRPr>
            </a:pPr>
            <a:r>
              <a:t>Ansible &amp; Runtime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Port 8081 Host Mapping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Idempotent Provisioning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Persistent Local H2 DB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• Actuator /health Check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669280"/>
            <a:ext cx="10728655" cy="822960"/>
          </a:xfrm>
          <a:prstGeom prst="roundRect">
            <a:avLst/>
          </a:prstGeom>
          <a:solidFill>
            <a:srgbClr val="0F1E36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715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🔒 Zero-Touch Automated Flow: Code Commit  ──►  Build &amp; Test  ──►  Selenium Quality Gate  ──►  Docker Packaging  ──►  Ansible Baseline  ──►  Port 8081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A4"/>
                </a:solidFill>
              </a:defRPr>
            </a:pPr>
            <a:r>
              <a:t>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Port Isolation Matrix &amp; Host Network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A4"/>
                </a:solidFill>
              </a:defRPr>
            </a:pPr>
            <a:r>
              <a:t>Port Contention Prevention Strategy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Contention Hazard: In naive CI/CD environments, Jenkins and the application both default to port 8080, causing catastrophic deployment failures.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Dedicated Port 8080: Reserved exclusively for the Jenkins CI/CD Controller. Application services are strictly barred from binding to 8080.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Dedicated Port 8081: Assigned exclusively to the Loan Application Tracking Portal across all configuration layers: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   - Spring Boot: server.port=8081 in application.properties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   - Jenkinsfile: TARGET_PORT=8081 environment variable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   - Docker Runtime: -p 8081:8081 host-to-container port mapping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   - Ansible Security: UFW firewall rule permitting 8081/tcp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SSH Administration: Port 22 configured with unprivileged service account loanapp.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E36"/>
                </a:solidFill>
              </a:defRPr>
            </a:pPr>
            <a:r>
              <a:t>Network Topology &amp; Port Matrix</a:t>
            </a:r>
          </a:p>
          <a:p>
            <a:pPr>
              <a:spcBef>
                <a:spcPts val="1000"/>
              </a:spcBef>
              <a:defRPr sz="1200" b="1">
                <a:solidFill>
                  <a:srgbClr val="1A56A4"/>
                </a:solidFill>
              </a:defRPr>
            </a:pPr>
            <a:r>
              <a:t>• Port 8080 (TCP) — Jenkins Controller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Role: CI/CD Orchestrator  |  Status: Dedicated to Jenkins</a:t>
            </a:r>
          </a:p>
          <a:p>
            <a:pPr>
              <a:spcBef>
                <a:spcPts val="1000"/>
              </a:spcBef>
              <a:defRPr sz="1200" b="1">
                <a:solidFill>
                  <a:srgbClr val="1A56A4"/>
                </a:solidFill>
              </a:defRPr>
            </a:pPr>
            <a:r>
              <a:t>• Port 8081 (TCP) — Loan Application Portal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Role: Spring Boot MVC Web App  |  Status: Active Production</a:t>
            </a:r>
          </a:p>
          <a:p>
            <a:pPr>
              <a:spcBef>
                <a:spcPts val="1000"/>
              </a:spcBef>
              <a:defRPr sz="1200" b="1">
                <a:solidFill>
                  <a:srgbClr val="1A56A4"/>
                </a:solidFill>
              </a:defRPr>
            </a:pPr>
            <a:r>
              <a:t>• Port 8081 (TCP) — /actuator/health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Role: Health &amp; Smoke Telemetry  |  Status: HTTP 200 {status: UP}</a:t>
            </a:r>
          </a:p>
          <a:p>
            <a:pPr>
              <a:spcBef>
                <a:spcPts val="1000"/>
              </a:spcBef>
              <a:defRPr sz="1200" b="1">
                <a:solidFill>
                  <a:srgbClr val="1A56A4"/>
                </a:solidFill>
              </a:defRPr>
            </a:pPr>
            <a:r>
              <a:t>• Port 8081 (TCP) — /h2-console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Role: Persistent Database Console  |  Status: Local Persistent DB</a:t>
            </a:r>
          </a:p>
          <a:p>
            <a:pPr>
              <a:spcBef>
                <a:spcPts val="1000"/>
              </a:spcBef>
              <a:defRPr sz="1200" b="1">
                <a:solidFill>
                  <a:srgbClr val="1A56A4"/>
                </a:solidFill>
              </a:defRPr>
            </a:pPr>
            <a:r>
              <a:t>• Port 22 (TCP) — SSH Server Access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Role: Ansible Automation User  |  Status: Restricted Key Auth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A4"/>
                </a:solidFill>
              </a:defRPr>
            </a:pPr>
            <a:r>
              <a:t>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Comprehensive Technology Stack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14600" cy="109728"/>
          </a:xfrm>
          <a:prstGeom prst="rect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240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A4"/>
                </a:solidFill>
              </a:defRPr>
            </a:pPr>
            <a:r>
              <a:t>Application Layer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Java OpenJDK 17 LTS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Modern object-oriented runtime with LTS stability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Spring Boot 3.2.3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Embedded Tomcat, dependency injection, MVC controllers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Thymeleaf &amp; Bootstrap 5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Server-rendered responsive UI with deterministic IDs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Spring Data JPA &amp; Hibernate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Declarative ORM persistence and entity mappings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65576" y="1371600"/>
            <a:ext cx="2514600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554480"/>
            <a:ext cx="2240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A896"/>
                </a:solidFill>
              </a:defRPr>
            </a:pPr>
            <a:r>
              <a:t>Database &amp; Storage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Embedded H2 Database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File-based persistent storage at ./data/loandb.mv.db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H2 Web Management Console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Direct table queries and transaction monitoring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KYC Secure Document Vault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UUID-based file storage outside web root at uploads/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Automatic DDL Migration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Zero-friction schema evolution on startup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71600"/>
            <a:ext cx="2514600" cy="10972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54480"/>
            <a:ext cx="2240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E3AF2"/>
                </a:solidFill>
              </a:defRPr>
            </a:pPr>
            <a:r>
              <a:t>Quality Assurance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JUnit 5 Platform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Modern unit &amp; integration regression test framework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Selenium WebDriver 4.18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Headless Chrome browser E2E test execution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ScreenshotOnFailureExtension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Auto-captures PNG snapshots on UI test failure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Spring Boot Test &amp; MockMvc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Full application context integration testing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33688" y="1371600"/>
            <a:ext cx="2514600" cy="109728"/>
          </a:xfrm>
          <a:prstGeom prst="rect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1554480"/>
            <a:ext cx="2240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E36"/>
                </a:solidFill>
              </a:defRPr>
            </a:pPr>
            <a:r>
              <a:t>DevOps &amp; Infrastructure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Jenkins 2.440+ LTS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Pipeline as Code orchestrating 7-stage CI/CD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Docker Multi-Stage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Minimal Alpine JRE 17 container with non-root user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Ansible 2.15+ (IaC)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Idempotent YAML playbooks managing host baseline</a:t>
            </a:r>
          </a:p>
          <a:p>
            <a:pPr>
              <a:spcBef>
                <a:spcPts val="1000"/>
              </a:spcBef>
              <a:defRPr sz="1100" b="1">
                <a:solidFill>
                  <a:srgbClr val="1E293B"/>
                </a:solidFill>
              </a:defRPr>
            </a:pPr>
            <a:r>
              <a:t>• Spring Boot Actuator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Production telemetry, health probes, and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A4"/>
                </a:solidFill>
              </a:defRPr>
            </a:pPr>
            <a:r>
              <a:t>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15-Task DevOps Implementation Roadmap (Vicky Pukale)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14600" cy="109728"/>
          </a:xfrm>
          <a:prstGeom prst="rect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554480"/>
            <a:ext cx="229514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6A4"/>
                </a:solidFill>
              </a:defRPr>
            </a:pPr>
            <a:r>
              <a:t>Phase I: Application Core (Tasks 1-5)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Task 1: Git repository initialization &amp; Maven project skeleton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Task 2: Branching strategy (main, develop, feature branches)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Task 3: Loan intake form with auto-generated LOAN-XXXX IDs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Task 4: Interactive dashboard, 4 KPI counters, status drill-down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Task 5: Dedicated /alerts queue for flagged/rejected loans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65576" y="1371600"/>
            <a:ext cx="2514600" cy="109728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5304" y="1554480"/>
            <a:ext cx="229514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E3AF2"/>
                </a:solidFill>
              </a:defRPr>
            </a:pPr>
            <a:r>
              <a:t>Phase II: Automated Testing (Tasks 6-9)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Task 6: JUnit 5 unit &amp; integration tests for service layer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Task 7: Jenkins controller setup &amp; Declarative Jenkinsfile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Task 8: Selenium WebDriver headless test suite (4 Journeys)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Task 9: ScreenshotOnFailure quality gate &amp; deliberate defect injection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71600"/>
            <a:ext cx="2514600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54480"/>
            <a:ext cx="229514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A896"/>
                </a:solidFill>
              </a:defRPr>
            </a:pPr>
            <a:r>
              <a:t>Phase III: Docker &amp; Ansible (Tasks 10-13)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Task 10: Multi-stage Dockerfile with non-root security user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Task 11: Continuous container deployment &amp; image tagging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Task 12: Target node baseline specification &amp; inventory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Task 13: Ansible automated provisioning with 100% idempotency proof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33688" y="1371600"/>
            <a:ext cx="25146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554480"/>
            <a:ext cx="2295144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</a:defRPr>
            </a:pPr>
            <a:r>
              <a:t>Phase IV: Reliability &amp; SBI Upgrade (Tasks 14-15)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Task 14: Actuator health checks &amp; sub-15s disaster recovery rollback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Task 15: Technical documentation, DORA metrics, &amp; viva defense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SBI Enhancement: 4-Pillar risk engine &amp; persistent local H2 DB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Final Delivery: 19/19 tests passing, production-ready release v2.0.0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A4"/>
                </a:solidFill>
              </a:defRPr>
            </a:pPr>
            <a:r>
              <a:t>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Loan Portal User Experience &amp; Core Functional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42255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242255" cy="73152"/>
          </a:xfrm>
          <a:prstGeom prst="rect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764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A4"/>
                </a:solidFill>
              </a:defRPr>
            </a:pPr>
            <a:r>
              <a:t>Borrower Application Intake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Multi-step intake form with real-time field validation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PAN Card format enforcement: [A-Z]{5}[0-9]{4}[A-Z]{1}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Auto-generates sequential IDs (LOAN-1001, LOAN-1002)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Instant FOIR live preview as income/EMI values are typed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24225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764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896"/>
                </a:solidFill>
              </a:defRPr>
            </a:pPr>
            <a:r>
              <a:t>Executive KPI Dashboard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Total Applications counter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In Intake / Review counter (SUBMITTED status)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Approved Loans counter (APPROVED / SANCTIONED)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Rejected / Exceptions counter (REJECTED / HIGH RISK)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42255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86200"/>
            <a:ext cx="5242255" cy="73152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764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E3AF2"/>
                </a:solidFill>
              </a:defRPr>
            </a:pPr>
            <a:r>
              <a:t>Real-Time Search &amp; Filtering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Live substring search across Application ID &amp; Borrower Name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One-click Reset filter restoring full workload overview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SBI Risk Tag badge displayed on each record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Instant drill-down button navigating to applicant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86200"/>
            <a:ext cx="5242255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886200"/>
            <a:ext cx="524225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48764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Status Drill-Down &amp; Timeline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Immutable chronological audit log of all stage transitions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Loan officer stage update controls (KYC, Underwriting, Sanction)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Mandatory rejection reason code capture on adverse decisions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SBI Underwriting Risk Summary card with visual progress bar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A4"/>
                </a:solidFill>
              </a:defRPr>
            </a:pPr>
            <a:r>
              <a:t>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Automated Quality Gate (Selenium WebDriver &amp; JUnit 5)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0350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56A4"/>
                </a:solidFill>
              </a:defRPr>
            </a:pPr>
            <a:r>
              <a:t>6 Automated End-to-End User Journeys (Headless Chrome)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✓ Journey 1 (Intake): Submits Rahul Sharma (₹45,000, Personal) -&gt; Asserts LOAN-XXXX appears on Dashboard with SUBMITTED status.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✓ Journey 2 (Search): Enters 'Rahul' in search input -&gt; Asserts matching row is displayed -&gt; Clicks Reset and asserts table refreshes.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✓ Journey 3 (Timeline): Drills down into applicant details -&gt; Advances stage to DOCUMENT_VERIFIED -&gt; Asserts audit event log recorded.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✓ Journey 4 (Rejection): Updates status to REJECTED with reason 'CIBIL Score Below 650' -&gt; Asserts routing into /alerts exception queue.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✓ Journey 5 / SBI A (Eligible): Submits Ananya Kapoor (CIBIL 820, FOIR ~13%) -&gt; Asserts PRE_APPROVED tag -&gt; Fast-tracks to UNDERWRITING.</a:t>
            </a:r>
          </a:p>
          <a:p>
            <a:pPr>
              <a:spcBef>
                <a:spcPts val="500"/>
              </a:spcBef>
              <a:defRPr sz="1000">
                <a:solidFill>
                  <a:srgbClr val="1E293B"/>
                </a:solidFill>
              </a:defRPr>
            </a:pPr>
            <a:r>
              <a:t>✓ Journey 6 / SBI B (Ineligible): Submits Vikram Singh (CIBIL 580 &lt; 650) -&gt; Asserts auto HIGH_RISK_EXCEPTION -&gt; Asserts automatic routing to Alerts queue.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371600"/>
            <a:ext cx="4510735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554480"/>
            <a:ext cx="4144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E36"/>
                </a:solidFill>
              </a:defRPr>
            </a:pPr>
            <a:r>
              <a:t>Quality Gate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</a:defRPr>
            </a:pPr>
            <a:r>
              <a:t>• Zero-Defect Pipeline Enforcement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If any Selenium browser assertion fails, the pipeline aborts immediately. Docker image build and deployment are blocked.</a:t>
            </a:r>
          </a:p>
          <a:p>
            <a:pPr>
              <a:spcBef>
                <a:spcPts val="800"/>
              </a:spcBef>
              <a:defRPr sz="1100" b="1">
                <a:solidFill>
                  <a:srgbClr val="00A896"/>
                </a:solidFill>
              </a:defRPr>
            </a:pPr>
            <a:r>
              <a:t>• ScreenshotOnFailureExtension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JUnit 5 TestWatcher extension captures high-resolution PNG screenshots upon failure into target/screenshots/ for post-mortem debugging.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</a:defRPr>
            </a:pPr>
            <a:r>
              <a:t>• Deliberate Defect Injection Test (Task 9)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 simulated UI regression (changing page title) was committed to test the quality gate. Jenkins caught the defect, aborted deployment, and preserved production stability.</a:t>
            </a:r>
          </a:p>
          <a:p>
            <a:pPr>
              <a:spcBef>
                <a:spcPts val="800"/>
              </a:spcBef>
              <a:defRPr sz="1100" b="1">
                <a:solidFill>
                  <a:srgbClr val="00A896"/>
                </a:solidFill>
              </a:defRPr>
            </a:pPr>
            <a:r>
              <a:t>• 100% Verification Record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All 6 journeys passed with 0 errors, validating complete UI lifecycle reliability.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A4"/>
                </a:solidFill>
              </a:defRPr>
            </a:pPr>
            <a:r>
              <a:t>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Declarative CI/CD Pipeline as Code (Jenkinsfile)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1508760"/>
            <a:ext cx="320040" cy="320040"/>
          </a:xfrm>
          <a:prstGeom prst="ellipse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Stage 1: Checkout SCM  —  </a:t>
            </a:r>
            <a:r>
              <a:rPr sz="1100" b="0">
                <a:solidFill>
                  <a:srgbClr val="1E293B"/>
                </a:solidFill>
              </a:rPr>
              <a:t>Clones latest commit from GitHub repository main branch with clean working tree.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57400"/>
            <a:ext cx="10728655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94560"/>
            <a:ext cx="320040" cy="320040"/>
          </a:xfrm>
          <a:prstGeom prst="ellipse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1031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Stage 2: Unit Tests  —  </a:t>
            </a:r>
            <a:r>
              <a:rPr sz="1100" b="0">
                <a:solidFill>
                  <a:srgbClr val="1E293B"/>
                </a:solidFill>
              </a:rPr>
              <a:t>Executes JUnit 5 service layer tests via Maven (12/12 passing with 100% coverage).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10728655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2880360"/>
            <a:ext cx="320040" cy="32004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7889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Stage 3: Selenium Quality Gate  —  </a:t>
            </a:r>
            <a:r>
              <a:rPr sz="1100" b="0">
                <a:solidFill>
                  <a:srgbClr val="1E293B"/>
                </a:solidFill>
              </a:rPr>
              <a:t>Launches headless Chrome browser to run 6 full-lifecycle E2E journeys.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10728655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3566160"/>
            <a:ext cx="320040" cy="3200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4747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Stage 4: Build Docker Image  —  </a:t>
            </a:r>
            <a:r>
              <a:rPr sz="1100" b="0">
                <a:solidFill>
                  <a:srgbClr val="1E293B"/>
                </a:solidFill>
              </a:rPr>
              <a:t>Builds multi-stage image tagged with loan-portal:build-&lt;N&gt; and loan-portal:latest.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10728655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251960"/>
            <a:ext cx="320040" cy="32004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41605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Stage 5: Continuous Deployment  —  </a:t>
            </a:r>
            <a:r>
              <a:rPr sz="1100" b="0">
                <a:solidFill>
                  <a:srgbClr val="1E293B"/>
                </a:solidFill>
              </a:rPr>
              <a:t>Gracefully stops running container and deploys newly built image mapped to Port 8081.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800600"/>
            <a:ext cx="10728655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4400" y="4937760"/>
            <a:ext cx="320040" cy="320040"/>
          </a:xfrm>
          <a:prstGeom prst="ellipse">
            <a:avLst/>
          </a:prstGeom>
          <a:solidFill>
            <a:srgbClr val="EB8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48463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Stage 6: Actuator Health Check  —  </a:t>
            </a:r>
            <a:r>
              <a:rPr sz="1100" b="0">
                <a:solidFill>
                  <a:srgbClr val="1E293B"/>
                </a:solidFill>
              </a:rPr>
              <a:t>Automated smoke check curl probing http://localhost:8081/actuator/health for UP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86400"/>
            <a:ext cx="10728655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5623560"/>
            <a:ext cx="320040" cy="320040"/>
          </a:xfrm>
          <a:prstGeom prst="ellipse">
            <a:avLst/>
          </a:prstGeom>
          <a:solidFill>
            <a:srgbClr val="0F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0" y="55321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E36"/>
                </a:solidFill>
              </a:defRPr>
            </a:pPr>
            <a:r>
              <a:t>Stage 7: Post-Actions &amp; Reports  —  </a:t>
            </a:r>
            <a:r>
              <a:rPr sz="1100" b="0">
                <a:solidFill>
                  <a:srgbClr val="1E293B"/>
                </a:solidFill>
              </a:rPr>
              <a:t>Archives JUnit XML reports, surefire test logs, and failure screenshots if triggered.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A4"/>
                </a:solidFill>
              </a:defRPr>
            </a:pPr>
            <a:r>
              <a:t>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Multi-Stage Docker Containerization &amp; Security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A4"/>
                </a:solidFill>
              </a:defRPr>
            </a:pPr>
            <a:r>
              <a:t>Multi-Stage Build Pattern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Stage 1 (Builder): Uses maven:3.9-eclipse-temurin-17 to compile code and package the Spring Boot executable JAR.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Stage 2 (Runtime): Copies ONLY the compiled JAR into a lightweight eclipse-temurin:17-jre-alpine base image.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Attack Surface Reduction: Build tools, Maven dependencies, source files, and compilers are excluded from the final image.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Image Footprint Optimization: Final image size reduced by over 65% compared to monolithic container images.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Fast Layer Caching: Dependencies separated from application code to accelerate CI/CD build execution.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Production Security Hardening</a:t>
            </a:r>
          </a:p>
          <a:p>
            <a:pPr>
              <a:spcBef>
                <a:spcPts val="800"/>
              </a:spcBef>
              <a:defRPr sz="1150" b="1">
                <a:solidFill>
                  <a:srgbClr val="0F1E36"/>
                </a:solidFill>
              </a:defRPr>
            </a:pPr>
            <a:r>
              <a:t>🛡️ Non-Root User Enforcement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Creates system group appgroup and user appuser (UID 1001). Application runs with zero root privileges to prevent container breakout.</a:t>
            </a:r>
          </a:p>
          <a:p>
            <a:pPr>
              <a:spcBef>
                <a:spcPts val="800"/>
              </a:spcBef>
              <a:defRPr sz="1150" b="1">
                <a:solidFill>
                  <a:srgbClr val="0F1E36"/>
                </a:solidFill>
              </a:defRPr>
            </a:pPr>
            <a:r>
              <a:t>🛡️ Native Container Healthcheck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HEALTHCHECK --interval=30s --timeout=5s --start-period=40s --retries=3 CMD wget -qO- http://localhost:8081/actuator/health || exit 1</a:t>
            </a:r>
          </a:p>
          <a:p>
            <a:pPr>
              <a:spcBef>
                <a:spcPts val="800"/>
              </a:spcBef>
              <a:defRPr sz="1150" b="1">
                <a:solidFill>
                  <a:srgbClr val="0F1E36"/>
                </a:solidFill>
              </a:defRPr>
            </a:pPr>
            <a:r>
              <a:t>🛡️ Volume &amp; Data Persistence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Mounts host ./data to container /app/data so persistent local H2 database survives container destruction and recreation.</a:t>
            </a:r>
          </a:p>
          <a:p>
            <a:pPr>
              <a:spcBef>
                <a:spcPts val="800"/>
              </a:spcBef>
              <a:defRPr sz="1150" b="1">
                <a:solidFill>
                  <a:srgbClr val="0F1E36"/>
                </a:solidFill>
              </a:defRPr>
            </a:pPr>
            <a:r>
              <a:t>🛡️ Deterministic Port Binding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EXPOSE 8081 with runtime mapping -p 8081:8081 maintaining strict port isolation from Jenkins controller.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A4"/>
                </a:solidFill>
              </a:defRPr>
            </a:pPr>
            <a:r>
              <a:t>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Configuration Management &amp; Ansible Idempotency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A4"/>
                </a:solidFill>
              </a:defRPr>
            </a:pPr>
            <a:r>
              <a:t>Automated Server Baseline (IaC)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Declarative YAML Playbook: Defines complete target environment state as code (playbook.yml).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Dedicated Service User: Automatically provisions user loanapp (UID 1001) in group loanapp with docker privileges.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Directory Hierarchy Enforced: /opt/loan-portal/ (0755), /logs/ (0755), /config/ (0750), and /data/ (0750).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Environment Secret File: /opt/loan-portal/.env deployed with restrictive 0640 ownership.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Firewall Baseline: UFW automatically allows Port 8081/tcp and Port 22/tcp while guarding controller 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6A34A"/>
                </a:solidFill>
              </a:defRPr>
            </a:pPr>
            <a:r>
              <a:t>Idempotency Proof (Run 1 vs. Run 2)</a:t>
            </a:r>
          </a:p>
          <a:p>
            <a:pPr>
              <a:spcBef>
                <a:spcPts val="600"/>
              </a:spcBef>
              <a:defRPr sz="1050">
                <a:solidFill>
                  <a:srgbClr val="64748B"/>
                </a:solidFill>
              </a:defRPr>
            </a:pPr>
            <a:r>
              <a:t>Idempotency guarantees that re-executing automation leaves the host in the exact desired state with zero duplicate processes or configuration drift.</a:t>
            </a:r>
          </a:p>
          <a:p>
            <a:pPr>
              <a:spcBef>
                <a:spcPts val="600"/>
              </a:spcBef>
              <a:defRPr sz="1000" b="1">
                <a:solidFill>
                  <a:srgbClr val="1E293B"/>
                </a:solidFill>
              </a:defRPr>
            </a:pPr>
            <a:r>
              <a:t>Metric             | Run 1 (Initial Setup)  | Run 2 (Audit Run)</a:t>
            </a:r>
          </a:p>
          <a:p>
            <a:pPr>
              <a:spcBef>
                <a:spcPts val="600"/>
              </a:spcBef>
              <a:defRPr sz="1000" b="0">
                <a:solidFill>
                  <a:srgbClr val="1E293B"/>
                </a:solidFill>
              </a:defRPr>
            </a:pPr>
            <a:r>
              <a:t>ok tasks           | 3 tasks                | 8 tasks</a:t>
            </a:r>
          </a:p>
          <a:p>
            <a:pPr>
              <a:spcBef>
                <a:spcPts val="600"/>
              </a:spcBef>
              <a:defRPr sz="1000" b="0">
                <a:solidFill>
                  <a:srgbClr val="1E293B"/>
                </a:solidFill>
              </a:defRPr>
            </a:pPr>
            <a:r>
              <a:t>changed tasks      | 5 tasks (Created)      | 0 tasks (ZERO drift)</a:t>
            </a:r>
          </a:p>
          <a:p>
            <a:pPr>
              <a:spcBef>
                <a:spcPts val="600"/>
              </a:spcBef>
              <a:defRPr sz="1000" b="0">
                <a:solidFill>
                  <a:srgbClr val="1E293B"/>
                </a:solidFill>
              </a:defRPr>
            </a:pPr>
            <a:r>
              <a:t>failed tasks       | 0 failures             | 0 failures</a:t>
            </a:r>
          </a:p>
          <a:p>
            <a:pPr>
              <a:spcBef>
                <a:spcPts val="600"/>
              </a:spcBef>
              <a:defRPr sz="1000" b="1">
                <a:solidFill>
                  <a:srgbClr val="16A34A"/>
                </a:solidFill>
              </a:defRPr>
            </a:pPr>
            <a:r>
              <a:t>Verdict            | Baseline Established   | PASSED: 100% Idempotent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A4"/>
                </a:solidFill>
              </a:defRPr>
            </a:pPr>
            <a:r>
              <a:t>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Observability, Health Telemetry &amp; Automated Rollback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A56A4"/>
                </a:solidFill>
              </a:defRPr>
            </a:pPr>
            <a:r>
              <a:t>Spring Boot Actuator Telemetry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Endpoint: http://localhost:8081/actuator/health returns HTTP 200 OK with detailed subsystem status.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Composite Probes: Evaluates relational database connection, disk space utilization, and ping response.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JSON Telemetry Response: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   {</a:t>
            </a:r>
            <a:br/>
            <a:r>
              <a:t>     "status": "UP",</a:t>
            </a:r>
            <a:br/>
            <a:r>
              <a:t>     "components": {</a:t>
            </a:r>
            <a:br/>
            <a:r>
              <a:t>       "db": { "status": "UP" },</a:t>
            </a:r>
            <a:br/>
            <a:r>
              <a:t>       "diskSpace": { "status": "UP" }</a:t>
            </a:r>
            <a:br/>
            <a:r>
              <a:t>     }</a:t>
            </a:r>
            <a:br/>
            <a:r>
              <a:t>   }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Continuous Smoke Testing: Actuator endpoint is curled in Jenkins Stage 6 and verified by Docker healthcheck every 30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</a:defRPr>
            </a:pPr>
            <a:r>
              <a:t>Sub-15 Second Automated Disaster Recovery</a:t>
            </a:r>
          </a:p>
          <a:p>
            <a:pPr>
              <a:spcBef>
                <a:spcPts val="800"/>
              </a:spcBef>
              <a:defRPr sz="1150" b="1">
                <a:solidFill>
                  <a:srgbClr val="0F1E36"/>
                </a:solidFill>
              </a:defRPr>
            </a:pPr>
            <a:r>
              <a:t>⚡ Simulated Outage Detection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Health probe continuously polls /actuator/health. If 3 consecutive failures occur, disaster recovery triggers.</a:t>
            </a:r>
          </a:p>
          <a:p>
            <a:pPr>
              <a:spcBef>
                <a:spcPts val="800"/>
              </a:spcBef>
              <a:defRPr sz="1150" b="1">
                <a:solidFill>
                  <a:srgbClr val="0F1E36"/>
                </a:solidFill>
              </a:defRPr>
            </a:pPr>
            <a:r>
              <a:t>⚡ Automated Rollback Script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verify_reliability.ps1 automatically intercepts failure, stops defective container, and pulls verified release v1.0.0.</a:t>
            </a:r>
          </a:p>
          <a:p>
            <a:pPr>
              <a:spcBef>
                <a:spcPts val="800"/>
              </a:spcBef>
              <a:defRPr sz="1150" b="1">
                <a:solidFill>
                  <a:srgbClr val="0F1E36"/>
                </a:solidFill>
              </a:defRPr>
            </a:pPr>
            <a:r>
              <a:t>⚡ Sub-15 Second MTTR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Container replacement and database reconnect complete in &lt; 15 seconds, exceeding industry DORA targets.</a:t>
            </a:r>
          </a:p>
          <a:p>
            <a:pPr>
              <a:spcBef>
                <a:spcPts val="800"/>
              </a:spcBef>
              <a:defRPr sz="1150" b="1">
                <a:solidFill>
                  <a:srgbClr val="0F1E36"/>
                </a:solidFill>
              </a:defRPr>
            </a:pPr>
            <a:r>
              <a:t>⚡ Data Persistence Guarantee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Because data is stored in the host ./data volume, ZERO loan application data is lost during disaster rollback.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A4"/>
                </a:solidFill>
              </a:defRPr>
            </a:pPr>
            <a:r>
              <a:t>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Phase 2: State Bank of India (SBI) Domain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42255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242255" cy="73152"/>
          </a:xfrm>
          <a:prstGeom prst="rect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8764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A56A4"/>
                </a:solidFill>
              </a:defRPr>
            </a:pPr>
            <a:r>
              <a:t>Pillar 1: CIBIL Credit Score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Score &gt;= 750: Preferential interest rate, auto PRE_APPROVED status.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Score 650-749: Requires MANUAL_REVIEW by credit analyst.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Score &lt; 650: Automatic HIGH_RISK_EXCEPTION rejection.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242255" cy="7315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764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A896"/>
                </a:solidFill>
              </a:defRPr>
            </a:pPr>
            <a:r>
              <a:t>Pillar 2: Income &amp; Employment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Salaried: Minimum net monthly salary of ₹20,000–₹25,000.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Self-Employed: Business operational and profitable for &gt;= 3 years.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Income &lt; ₹20,000 flagged as High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242255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886200"/>
            <a:ext cx="5242255" cy="73152"/>
          </a:xfrm>
          <a:prstGeom prst="rect">
            <a:avLst/>
          </a:prstGeom>
          <a:solidFill>
            <a:srgbClr val="7E3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23360"/>
            <a:ext cx="48764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E3AF2"/>
                </a:solidFill>
              </a:defRPr>
            </a:pPr>
            <a:r>
              <a:t>Pillar 3: Age Eligibility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Applicant age must be between 21 and 60 years at submission.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Age &lt; 21 or &gt; 60 automatically routes to Exception queue.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Validated dynamically on loan intake.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886200"/>
            <a:ext cx="5242255" cy="2331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886200"/>
            <a:ext cx="5242255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4876495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Pillar 4: FOIR Debt-to-Income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FOIR = (Existing EMIs + Proposed EMI) / Net Income * 100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Threshold: Total obligations must be &lt;= 50% of monthly income.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• FOIR &gt; 50% automatically rejected / flagged.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A4"/>
                </a:solidFill>
              </a:defRPr>
            </a:pPr>
            <a:r>
              <a:t>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Database Architecture: In-Memory to Persistent Local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56A4"/>
                </a:solidFill>
              </a:defRPr>
            </a:pPr>
            <a:r>
              <a:t>Storage Modernization (In-Memory -&gt; File-Based)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</a:defRPr>
            </a:pPr>
            <a:r>
              <a:t>• Previous State: In-Memory H2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jdbc:h2:mem:loandb — Data existed only in volatile RAM. Every container restart or application stop resulted in 100% data loss.</a:t>
            </a:r>
          </a:p>
          <a:p>
            <a:pPr>
              <a:spcBef>
                <a:spcPts val="800"/>
              </a:spcBef>
              <a:defRPr sz="1100" b="1">
                <a:solidFill>
                  <a:srgbClr val="16A34A"/>
                </a:solidFill>
              </a:defRPr>
            </a:pPr>
            <a:r>
              <a:t>• Current State: Persistent Local H2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jdbc:h2:file:./data/loandb;DB_CLOSE_DELAY=-1 — Data is saved locally to disk in the data/ folder (data/loandb.mv.db).</a:t>
            </a:r>
          </a:p>
          <a:p>
            <a:pPr>
              <a:spcBef>
                <a:spcPts val="800"/>
              </a:spcBef>
              <a:defRPr sz="1100" b="1">
                <a:solidFill>
                  <a:srgbClr val="0F1E36"/>
                </a:solidFill>
              </a:defRPr>
            </a:pPr>
            <a:r>
              <a:t>• Durability Across Restarts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Borrower applications, timestamped audit events, and KYC document records persist permanently across application and container restarts.</a:t>
            </a:r>
          </a:p>
          <a:p>
            <a:pPr>
              <a:spcBef>
                <a:spcPts val="800"/>
              </a:spcBef>
              <a:defRPr sz="1100" b="1">
                <a:solidFill>
                  <a:srgbClr val="00A896"/>
                </a:solidFill>
              </a:defRPr>
            </a:pPr>
            <a:r>
              <a:t>• H2 Web Console Access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Available at http://localhost:8081/h2-console with user 'sa' for live SQL queries and schema inspection.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48764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E36"/>
                </a:solidFill>
              </a:defRPr>
            </a:pPr>
            <a:r>
              <a:t>KYC Document Entity &amp; Underwriting Schema</a:t>
            </a:r>
          </a:p>
          <a:p>
            <a:pPr>
              <a:spcBef>
                <a:spcPts val="800"/>
              </a:spcBef>
              <a:defRPr sz="1150" b="1">
                <a:solidFill>
                  <a:srgbClr val="1A56A4"/>
                </a:solidFill>
              </a:defRPr>
            </a:pPr>
            <a:r>
              <a:t>📂 LoanDocument Entity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Stores KYC files (PAN, Aadhaar, Bank Statement, Salary Slips, Form 16) with PENDING, VERIFIED, or REJECTED review status.</a:t>
            </a:r>
          </a:p>
          <a:p>
            <a:pPr>
              <a:spcBef>
                <a:spcPts val="800"/>
              </a:spcBef>
              <a:defRPr sz="1150" b="1">
                <a:solidFill>
                  <a:srgbClr val="1A56A4"/>
                </a:solidFill>
              </a:defRPr>
            </a:pPr>
            <a:r>
              <a:t>📂 Secure Storage Outside Web Root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Uploaded files stored at ./uploads/kyc-documents/ with UUID-based keys to prevent path traversal attacks.</a:t>
            </a:r>
          </a:p>
          <a:p>
            <a:pPr>
              <a:spcBef>
                <a:spcPts val="800"/>
              </a:spcBef>
              <a:defRPr sz="1150" b="1">
                <a:solidFill>
                  <a:srgbClr val="1A56A4"/>
                </a:solidFill>
              </a:defRPr>
            </a:pPr>
            <a:r>
              <a:t>📂 New Underwriting Model Fields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cibilScore, monthlyIncome, existingEmi, employmentType, age, panNumber, tenureMonths, sbiEligibilityTag, calculatedFoir.</a:t>
            </a:r>
          </a:p>
          <a:p>
            <a:pPr>
              <a:spcBef>
                <a:spcPts val="800"/>
              </a:spcBef>
              <a:defRPr sz="1150" b="1">
                <a:solidFill>
                  <a:srgbClr val="1A56A4"/>
                </a:solidFill>
              </a:defRPr>
            </a:pPr>
            <a:r>
              <a:t>📂 Audit Events &amp; Relational Mapping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OneToMany cascade between LoanApplication and LoanEvent / LoanDocument ensuring atomic database transactions.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A4"/>
                </a:solidFill>
              </a:defRPr>
            </a:pPr>
            <a:r>
              <a:t>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Industry DORA Metrics &amp; DevOps Performance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514600" cy="109728"/>
          </a:xfrm>
          <a:prstGeom prst="rect">
            <a:avLst/>
          </a:prstGeom>
          <a:solidFill>
            <a:srgbClr val="1A56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2240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Deployment Frequency</a:t>
            </a:r>
          </a:p>
          <a:p>
            <a:pPr>
              <a:spcBef>
                <a:spcPts val="800"/>
              </a:spcBef>
              <a:defRPr sz="2200" b="1">
                <a:solidFill>
                  <a:srgbClr val="1A56A4"/>
                </a:solidFill>
              </a:defRPr>
            </a:pPr>
            <a:r>
              <a:t>On-Demand Automated</a:t>
            </a:r>
          </a:p>
          <a:p>
            <a:pPr>
              <a:spcBef>
                <a:spcPts val="400"/>
              </a:spcBef>
              <a:defRPr sz="1000" b="1">
                <a:solidFill>
                  <a:srgbClr val="64748B"/>
                </a:solidFill>
              </a:defRPr>
            </a:pPr>
            <a:r>
              <a:t>Industry Standard: High / Daily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</a:defRPr>
            </a:pPr>
            <a:r>
              <a:t>Every Git commit to main triggers automatic pipeline build, test, and container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65576" y="1371600"/>
            <a:ext cx="2514600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2736" y="1554480"/>
            <a:ext cx="2240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Lead Time for Changes</a:t>
            </a:r>
          </a:p>
          <a:p>
            <a:pPr>
              <a:spcBef>
                <a:spcPts val="800"/>
              </a:spcBef>
              <a:defRPr sz="2200" b="1">
                <a:solidFill>
                  <a:srgbClr val="16A34A"/>
                </a:solidFill>
              </a:defRPr>
            </a:pPr>
            <a:r>
              <a:t>&lt; 5 Minutes</a:t>
            </a:r>
          </a:p>
          <a:p>
            <a:pPr>
              <a:spcBef>
                <a:spcPts val="400"/>
              </a:spcBef>
              <a:defRPr sz="1000" b="1">
                <a:solidFill>
                  <a:srgbClr val="64748B"/>
                </a:solidFill>
              </a:defRPr>
            </a:pPr>
            <a:r>
              <a:t>Industry Standard: &lt; 1 Day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</a:defRPr>
            </a:pPr>
            <a:r>
              <a:t>From developer 'git push' to running Docker container passing health check on Port 8081.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371600"/>
            <a:ext cx="2514600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1554480"/>
            <a:ext cx="2240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Change Failure Rate</a:t>
            </a:r>
          </a:p>
          <a:p>
            <a:pPr>
              <a:spcBef>
                <a:spcPts val="800"/>
              </a:spcBef>
              <a:defRPr sz="2200" b="1">
                <a:solidFill>
                  <a:srgbClr val="00A896"/>
                </a:solidFill>
              </a:defRPr>
            </a:pPr>
            <a:r>
              <a:t>0% in Production</a:t>
            </a:r>
          </a:p>
          <a:p>
            <a:pPr>
              <a:spcBef>
                <a:spcPts val="400"/>
              </a:spcBef>
              <a:defRPr sz="1000" b="1">
                <a:solidFill>
                  <a:srgbClr val="64748B"/>
                </a:solidFill>
              </a:defRPr>
            </a:pPr>
            <a:r>
              <a:t>Industry Standard: &lt; 15%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</a:defRPr>
            </a:pPr>
            <a:r>
              <a:t>Defects, regressions, and UI errors caught early by the Selenium headless browser quality gate.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33688" y="1371600"/>
            <a:ext cx="251460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33688" y="1371600"/>
            <a:ext cx="2514600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70848" y="1554480"/>
            <a:ext cx="2240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E36"/>
                </a:solidFill>
              </a:defRPr>
            </a:pPr>
            <a:r>
              <a:t>Mean Time to Recovery (MTTR)</a:t>
            </a:r>
          </a:p>
          <a:p>
            <a:pPr>
              <a:spcBef>
                <a:spcPts val="800"/>
              </a:spcBef>
              <a:defRPr sz="2200" b="1">
                <a:solidFill>
                  <a:srgbClr val="DC2626"/>
                </a:solidFill>
              </a:defRPr>
            </a:pPr>
            <a:r>
              <a:t>&lt; 15 Seconds</a:t>
            </a:r>
          </a:p>
          <a:p>
            <a:pPr>
              <a:spcBef>
                <a:spcPts val="400"/>
              </a:spcBef>
              <a:defRPr sz="1000" b="1">
                <a:solidFill>
                  <a:srgbClr val="64748B"/>
                </a:solidFill>
              </a:defRPr>
            </a:pPr>
            <a:r>
              <a:t>Industry Standard: &lt; 1 Hour</a:t>
            </a:r>
          </a:p>
          <a:p>
            <a:pPr>
              <a:spcBef>
                <a:spcPts val="1200"/>
              </a:spcBef>
              <a:defRPr sz="1050">
                <a:solidFill>
                  <a:srgbClr val="1E293B"/>
                </a:solidFill>
              </a:defRPr>
            </a:pPr>
            <a:r>
              <a:t>Automated rollback script swaps failing container back to previous stable release v1.0.0.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A56A4"/>
                </a:solidFill>
              </a:defRPr>
            </a:pPr>
            <a:r>
              <a:t>DEVOPS CAPSTONE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E36"/>
                </a:solidFill>
              </a:defRPr>
            </a:pPr>
            <a:r>
              <a:t>Examiner Viva Defense &amp; Key Technical Justifications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4475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6A4"/>
                </a:solidFill>
              </a:defRPr>
            </a:pPr>
            <a:r>
              <a:t>Q: Why Declarative Pipeline (Jenkinsfile) over Freestyle Jobs?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A: Jenkinsfile represents Pipeline as Code. Stored directly in Git, it provides versioning, code reviews, auditability, and instant disaster recovery compared to opaque UI clicks.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72865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3347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6A4"/>
                </a:solidFill>
              </a:defRPr>
            </a:pPr>
            <a:r>
              <a:t>Q: How does the Selenium Quality Gate protect production?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A: It executes real user journeys in headless Chrome prior to Docker image creation. If any assertion fails, deployment aborts immediately, preventing broken code from reaching users.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749040"/>
            <a:ext cx="1072865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82219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6A4"/>
                </a:solidFill>
              </a:defRPr>
            </a:pPr>
            <a:r>
              <a:t>Q: What is Idempotency in Ansible and why is it critical?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A: Idempotency guarantees executing a playbook multiple times produces the exact target state with zero duplicate changes. Proven in Task 13: Run 2 reported changed=0, failed=0.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728655" cy="1078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010912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56A4"/>
                </a:solidFill>
              </a:defRPr>
            </a:pPr>
            <a:r>
              <a:t>Q: Why enforce strict Port 8080 and 8081 separation?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A: Prevents port contention. Port 8080 is dedicated exclusively to Jenkins CI/CD controller; Port 8081 is assigned exclusively to the Loan Portal application.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Summary, Future Scope &amp; Academic Sign-off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36576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B823C"/>
                </a:solidFill>
              </a:defRPr>
            </a:pPr>
            <a:r>
              <a:t>Summary of Completed Work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✓ 15/15 DevOps tasks completed with individual documentation.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✓ 100% test pass rate (19 tests: 13 unit/service + 6 Selenium E2E).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✓ Persistent local database storing records at ./data/loandb.mv.db.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✓ SBI Retail Underwriting Engine integrated (CIBIL, FOIR, Age, Income).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✓ Hardened non-root multi-stage Docker containerization on Port 8081.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✓ Ansible automated provisioning with verified 100% idempotency.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059375" cy="36576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69361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A896"/>
                </a:solidFill>
              </a:defRPr>
            </a:pPr>
            <a:r>
              <a:t>Phase 3 Future Enhancements &amp; Q&amp;A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🚀 Live Bureau Integration: Direct REST connectivity to CIBIL / Experian APIs.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🚀 Automated Sanction Letters: Dynamic PDF generator upon approval.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🚀 Kubernetes Orchestration: Helm charts, Ingress, &amp; horizontal autoscaling.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🚀 Role-Based Access Control: Spring Security RBAC with JWT / OAuth2.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628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B823C"/>
                </a:solidFill>
              </a:defRPr>
            </a:pPr>
            <a:r>
              <a:t>Thank You!  |  Candidate: Vicky Vilas Pukale (23102A0033)  |  Open for Examiner Viva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