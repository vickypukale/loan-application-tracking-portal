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5119604" cy="1069207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119604" cy="10692079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320040"/>
            <a:ext cx="14388084" cy="114300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A56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 rIns="3474720" bIns="91440"/>
          <a:lstStyle/>
          <a:p>
            <a:pPr algn="ctr">
              <a:defRPr b="1" sz="2000">
                <a:solidFill>
                  <a:srgbClr val="0F172A"/>
                </a:solidFill>
              </a:defRPr>
            </a:pPr>
            <a:r>
              <a:t>SECURE CI/CD PIPELINE FOR A LOAN APPLICATION TRACKING PORTAL</a:t>
            </a:r>
          </a:p>
          <a:p>
            <a:pPr>
              <a:defRPr b="1" sz="1050">
                <a:solidFill>
                  <a:srgbClr val="1A56A4"/>
                </a:solidFill>
              </a:defRPr>
            </a:pPr>
            <a:r>
              <a:t>Automated DevOps Architecture  •  Dual-Role (Borrower/Officer) RBAC  •  SBI Underwriting Engine  •  9-Journey Selenium Quality Gate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11462004" y="429768"/>
            <a:ext cx="3108960" cy="9144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rIns="109728" bIns="73152"/>
          <a:lstStyle/>
          <a:p>
            <a:pPr algn="ctr">
              <a:defRPr b="1" sz="850">
                <a:solidFill>
                  <a:srgbClr val="0F172A"/>
                </a:solidFill>
              </a:defRPr>
            </a:pPr>
            <a:r>
              <a:t>LEAD ENGINEER: Vicky Vilas Pukale  |  ROLL: 23102A0033</a:t>
            </a:r>
          </a:p>
          <a:p>
            <a:pPr>
              <a:defRPr b="1" sz="850">
                <a:solidFill>
                  <a:srgbClr val="1A56A4"/>
                </a:solidFill>
              </a:defRPr>
            </a:pPr>
            <a:r>
              <a:t>RELEASE: v2.1.0-auth  •  AUTOMATED TESTS: 27 / 27 PASSED</a:t>
            </a:r>
          </a:p>
          <a:p>
            <a:pPr>
              <a:defRPr b="1" sz="850">
                <a:solidFill>
                  <a:srgbClr val="16A34A"/>
                </a:solidFill>
              </a:defRPr>
            </a:pPr>
            <a:r>
              <a:t>STATUS: [✓] CI/CD PRODUCTION QUALITY GATE APPROVED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645920"/>
            <a:ext cx="3459861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719072"/>
            <a:ext cx="3276981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tIns="36576"/>
          <a:lstStyle/>
          <a:p>
            <a:pPr algn="ctr">
              <a:defRPr b="1" sz="950">
                <a:solidFill>
                  <a:srgbClr val="1A56A4"/>
                </a:solidFill>
              </a:defRPr>
            </a:pPr>
            <a:r>
              <a:t>[★]  PROBLEM STATEMENT &amp; 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29968"/>
            <a:ext cx="3276981" cy="204825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850">
                <a:solidFill>
                  <a:srgbClr val="334155"/>
                </a:solidFill>
              </a:defRPr>
            </a:pPr>
            <a:r>
              <a:t>Traditional retail loan processing is plagued by manual friction, opaque progress tracking, lack of audit separation, and unverified deployments.</a:t>
            </a:r>
          </a:p>
          <a:p>
            <a:pPr>
              <a:defRPr sz="800">
                <a:solidFill>
                  <a:srgbClr val="334155"/>
                </a:solidFill>
              </a:defRPr>
            </a:pPr>
            <a:r>
              <a:t>• Core Objective: Deliver an enterprise-grade automated lending portal featuring secure dual-role separation, automated risk calculation, and resilient CI/CD delivery.</a:t>
            </a:r>
          </a:p>
          <a:p>
            <a:pPr>
              <a:defRPr sz="800">
                <a:solidFill>
                  <a:srgbClr val="334155"/>
                </a:solidFill>
              </a:defRPr>
            </a:pPr>
            <a:r>
              <a:t>• Key Technologies: Spring Boot 3.2, Thymeleaf, H2 Database, Jenkins Declarative Pipeline, Docker Multi-Stage, Selenium Headless, Ansible Automation.</a:t>
            </a:r>
          </a:p>
          <a:p>
            <a:pPr>
              <a:defRPr sz="800" b="1">
                <a:solidFill>
                  <a:srgbClr val="1A56A4"/>
                </a:solidFill>
              </a:defRPr>
            </a:pPr>
            <a:r>
              <a:t>• Reliability Goal: Sub-15s recovery and 100% test gate passing before deployment.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4279392"/>
            <a:ext cx="3459861" cy="572688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4352544"/>
            <a:ext cx="3276981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tIns="36576"/>
          <a:lstStyle/>
          <a:p>
            <a:pPr algn="ctr">
              <a:defRPr b="1" sz="950">
                <a:solidFill>
                  <a:srgbClr val="1A56A4"/>
                </a:solidFill>
              </a:defRPr>
            </a:pPr>
            <a:r>
              <a:t>[⚙]  THE 4 SBI UNDERWRITING PILLARS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663440"/>
            <a:ext cx="3276981" cy="5306263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850" b="1">
                <a:solidFill>
                  <a:srgbClr val="0F172A"/>
                </a:solidFill>
              </a:defRPr>
            </a:pPr>
            <a:r>
              <a:t>Live algorithmic credit risk assessment evaluating retail borrower solvency:</a:t>
            </a:r>
          </a:p>
          <a:p>
            <a:pPr>
              <a:defRPr sz="800">
                <a:solidFill>
                  <a:srgbClr val="334155"/>
                </a:solidFill>
              </a:defRPr>
            </a:pPr>
            <a:r>
              <a:t>1. CIBIL Score (≥ 750 | Hard Floor 650):</a:t>
            </a:r>
            <a:br/>
            <a:r>
              <a:t>   Credit bureau rating for financial solvency.</a:t>
            </a:r>
          </a:p>
          <a:p>
            <a:pPr>
              <a:defRPr sz="800">
                <a:solidFill>
                  <a:srgbClr val="334155"/>
                </a:solidFill>
              </a:defRPr>
            </a:pPr>
            <a:r>
              <a:t>2. Net Monthly Income (≥ ₹20,000 / month):</a:t>
            </a:r>
            <a:br/>
            <a:r>
              <a:t>   Verifies adequate monthly debt servicing ability.</a:t>
            </a:r>
          </a:p>
          <a:p>
            <a:pPr>
              <a:defRPr sz="800">
                <a:solidFill>
                  <a:srgbClr val="334155"/>
                </a:solidFill>
              </a:defRPr>
            </a:pPr>
            <a:r>
              <a:t>3. Applicant Age Range (21 – 60 Years):</a:t>
            </a:r>
            <a:br/>
            <a:r>
              <a:t>   SBI standard working-age boundary.</a:t>
            </a:r>
          </a:p>
          <a:p>
            <a:pPr>
              <a:defRPr sz="800" b="1">
                <a:solidFill>
                  <a:srgbClr val="1A56A4"/>
                </a:solidFill>
              </a:defRPr>
            </a:pPr>
            <a:r>
              <a:t>4. Max FOIR Ratio (≤ 40% | Max 50%):</a:t>
            </a:r>
            <a:br/>
            <a:r>
              <a:t>   FOIR = (Existing EMIs + Proposed EMI) / Net Income × 100</a:t>
            </a:r>
          </a:p>
          <a:p>
            <a:pPr>
              <a:defRPr sz="780" b="1">
                <a:solidFill>
                  <a:srgbClr val="D97706"/>
                </a:solidFill>
              </a:defRPr>
            </a:pPr>
            <a:r>
              <a:t>AUTOMATED ROUTING ENGINE:</a:t>
            </a:r>
            <a:br/>
            <a:r>
              <a:t>• CIBIL ≥ 750 &amp; FOIR ≤ 40% ➔ [PRE_APPROVED]</a:t>
            </a:r>
            <a:br/>
            <a:r>
              <a:t>• CIBIL &lt; 650 or FOIR &gt; 50% ➔ [HIGH_RISK_EXCEPTION]</a:t>
            </a:r>
            <a:br/>
            <a:r>
              <a:t>• Boundary Criteria Met ➔ [MANUAL_REVIEW]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08501" y="1645920"/>
            <a:ext cx="3459861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99941" y="1719072"/>
            <a:ext cx="3276981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tIns="36576"/>
          <a:lstStyle/>
          <a:p>
            <a:pPr algn="ctr">
              <a:defRPr b="1" sz="950">
                <a:solidFill>
                  <a:srgbClr val="1A56A4"/>
                </a:solidFill>
              </a:defRPr>
            </a:pPr>
            <a:r>
              <a:t>[👥]  DUAL-ROLE PORTAL 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99941" y="2029968"/>
            <a:ext cx="3276981" cy="351129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850" b="1">
                <a:solidFill>
                  <a:srgbClr val="0F172A"/>
                </a:solidFill>
              </a:defRPr>
            </a:pPr>
            <a:r>
              <a:t>Strict Role-Based Access Control separating customers from underwriters:</a:t>
            </a:r>
          </a:p>
          <a:p>
            <a:pPr>
              <a:defRPr sz="780">
                <a:solidFill>
                  <a:srgbClr val="334155"/>
                </a:solidFill>
              </a:defRPr>
            </a:pPr>
            <a:r>
              <a:t>END USER / BORROWER PORTAL (/my-applications):</a:t>
            </a:r>
            <a:br/>
            <a:r>
              <a:t>• Self-Registration &amp; Dual-Tab Login screen.</a:t>
            </a:r>
            <a:br/>
            <a:r>
              <a:t>• Auto-Populated Application Form (/apply) pre-filled from user profile.</a:t>
            </a:r>
            <a:br/>
            <a:r>
              <a:t>• Personal Portfolio View: Borrowers only view applications they submitted.</a:t>
            </a:r>
            <a:br/>
            <a:r>
              <a:t>• Read-Only Audit Timeline: Tracking stages without modification rights.</a:t>
            </a:r>
            <a:br/>
            <a:r>
              <a:t>• Zero Access to Bank Overview or Alerts Queue.</a:t>
            </a:r>
          </a:p>
          <a:p>
            <a:pPr>
              <a:defRPr sz="780">
                <a:solidFill>
                  <a:srgbClr val="334155"/>
                </a:solidFill>
              </a:defRPr>
            </a:pPr>
            <a:r>
              <a:t>BANK OFFICER / ADMIN CONSOLE (/dashboard):</a:t>
            </a:r>
            <a:br/>
            <a:r>
              <a:t>• Global Portfolio Dashboard: Live view of all bank loan applications.</a:t>
            </a:r>
            <a:br/>
            <a:r>
              <a:t>• 4 Live KPI Counters: Total, In-Review, Approved, High-Risk.</a:t>
            </a:r>
            <a:br/>
            <a:r>
              <a:t>• Real-Time Search: Filter by Application ID or Applicant Name.</a:t>
            </a:r>
            <a:br/>
            <a:r>
              <a:t>• Lifecycle Stage Advancement:</a:t>
            </a:r>
            <a:br/>
            <a:r>
              <a:t>  Submitted ➔ KYC Verified ➔ Docs Verified ➔ Underwriting ➔ Approved / Rejected.</a:t>
            </a:r>
            <a:br/>
            <a:r>
              <a:t>• Alerts Queue (/alerts): Immediate review for exception accounts.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08501" y="5742432"/>
            <a:ext cx="3459861" cy="426384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099941" y="5815584"/>
            <a:ext cx="3276981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tIns="36576"/>
          <a:lstStyle/>
          <a:p>
            <a:pPr algn="ctr">
              <a:defRPr b="1" sz="950">
                <a:solidFill>
                  <a:srgbClr val="1A56A4"/>
                </a:solidFill>
              </a:defRPr>
            </a:pPr>
            <a:r>
              <a:t>[🔒]  ROUTE SECURITY &amp; TAB ISOLATION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99941" y="6126480"/>
            <a:ext cx="3276981" cy="3843223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780">
                <a:solidFill>
                  <a:srgbClr val="334155"/>
                </a:solidFill>
              </a:defRPr>
            </a:pPr>
            <a:r>
              <a:t>ZERO-TRUST ROUTE GUARD MATRIX:</a:t>
            </a:r>
            <a:br/>
            <a:r>
              <a:t>• /login, /register ➔ Public (Zero internal nav tabs shown)</a:t>
            </a:r>
            <a:br/>
            <a:r>
              <a:t>• /dashboard ➔ ADMIN only (Redirects to /login if unauth)</a:t>
            </a:r>
            <a:br/>
            <a:r>
              <a:t>• /my-applications ➔ USER only (Redirects to /login)</a:t>
            </a:r>
            <a:br/>
            <a:r>
              <a:t>• /apply ➔ USER / ADMIN (Redirects to /login)</a:t>
            </a:r>
            <a:br/>
            <a:r>
              <a:t>• /loans/{id} ➔ Owner or ADMIN only</a:t>
            </a:r>
            <a:br/>
            <a:r>
              <a:t>• /alerts ➔ ADMIN only (403 Forbidden for User)</a:t>
            </a:r>
          </a:p>
          <a:p>
            <a:pPr>
              <a:defRPr sz="780" b="1">
                <a:solidFill>
                  <a:srgbClr val="DC2626"/>
                </a:solidFill>
              </a:defRPr>
            </a:pPr>
            <a:r>
              <a:t>DOM TAB PRIVACY GUARANTEE:</a:t>
            </a:r>
            <a:br/>
            <a:r>
              <a:t>Before logging in, navigation tabs (Dashboard, New Application, Alerts) are completely removed from the DOM to eliminate data leakage.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51242" y="1645920"/>
            <a:ext cx="3459861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42682" y="1719072"/>
            <a:ext cx="3276981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tIns="36576"/>
          <a:lstStyle/>
          <a:p>
            <a:pPr algn="ctr">
              <a:defRPr b="1" sz="950">
                <a:solidFill>
                  <a:srgbClr val="1A56A4"/>
                </a:solidFill>
              </a:defRPr>
            </a:pPr>
            <a:r>
              <a:t>[⚙]  JENKINS DECLARATIVE PIPELINE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42682" y="2029968"/>
            <a:ext cx="3276981" cy="277977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850" b="1">
                <a:solidFill>
                  <a:srgbClr val="0F172A"/>
                </a:solidFill>
              </a:defRPr>
            </a:pPr>
            <a:r>
              <a:t>Automated 6-stage CI/CD execution triggered via Git Webhook on Port 8080:</a:t>
            </a:r>
          </a:p>
          <a:p>
            <a:pPr>
              <a:defRPr sz="800">
                <a:solidFill>
                  <a:srgbClr val="334155"/>
                </a:solidFill>
              </a:defRPr>
            </a:pPr>
            <a:r>
              <a:t>STAGE 1: Checkout SCM (Git Feature/Main Branch)</a:t>
            </a:r>
            <a:br/>
            <a:r>
              <a:t>STAGE 2: Unit &amp; Integration Tests (18 Tests - Model/Repo/Service)</a:t>
            </a:r>
            <a:br/>
            <a:r>
              <a:t>STAGE 3: Selenium E2E Quality Gate (9 Chrome Headless Journeys)</a:t>
            </a:r>
            <a:br/>
            <a:r>
              <a:t>STAGE 4: Multi-Stage Docker Build (Lightweight container)</a:t>
            </a:r>
            <a:br/>
            <a:r>
              <a:t>STAGE 5: Continuous Deployment (Port 8081 isolated runtime)</a:t>
            </a:r>
            <a:br/>
            <a:r>
              <a:t>STAGE 6: Actuator Health Check (HTTP 200 OK /actuator/health)</a:t>
            </a:r>
          </a:p>
          <a:p>
            <a:pPr>
              <a:defRPr sz="780" b="1">
                <a:solidFill>
                  <a:srgbClr val="1A56A4"/>
                </a:solidFill>
              </a:defRPr>
            </a:pPr>
            <a:r>
              <a:t>STRICT QUALITY GATE POLICY:</a:t>
            </a:r>
            <a:br/>
            <a:r>
              <a:t>Any test or Selenium journey failure aborts the pipeline immediately, captures a failure screenshot, and prevents artifact deployment.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51242" y="5010912"/>
            <a:ext cx="3459861" cy="499536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42682" y="5084064"/>
            <a:ext cx="3276981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tIns="36576"/>
          <a:lstStyle/>
          <a:p>
            <a:pPr algn="ctr">
              <a:defRPr b="1" sz="950">
                <a:solidFill>
                  <a:srgbClr val="1A56A4"/>
                </a:solidFill>
              </a:defRPr>
            </a:pPr>
            <a:r>
              <a:t>[🔬]  HEADLESS SELENIUM QUALITY GATE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42682" y="5394960"/>
            <a:ext cx="3276981" cy="4574743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819" b="1">
                <a:solidFill>
                  <a:srgbClr val="0F172A"/>
                </a:solidFill>
              </a:defRPr>
            </a:pPr>
            <a:r>
              <a:t>Comprehensive browser automation executing across 9 real user journeys:</a:t>
            </a:r>
          </a:p>
          <a:p>
            <a:pPr>
              <a:defRPr sz="730">
                <a:solidFill>
                  <a:srgbClr val="334155"/>
                </a:solidFill>
              </a:defRPr>
            </a:pPr>
            <a:r>
              <a:t>• J1 (Intake): Submits loan form ➔ verifies generated LOAN-XXXX on table.</a:t>
            </a:r>
          </a:p>
          <a:p>
            <a:pPr>
              <a:defRPr sz="730">
                <a:solidFill>
                  <a:srgbClr val="334155"/>
                </a:solidFill>
              </a:defRPr>
            </a:pPr>
            <a:r>
              <a:t>• J2 (Search): Filters live table by applicant name with instant reset.</a:t>
            </a:r>
          </a:p>
          <a:p>
            <a:pPr>
              <a:defRPr sz="730">
                <a:solidFill>
                  <a:srgbClr val="334155"/>
                </a:solidFill>
              </a:defRPr>
            </a:pPr>
            <a:r>
              <a:t>• J3 (Drill-Down): Advances stage to DOCUMENT_VERIFIED ➔ verifies audit log.</a:t>
            </a:r>
          </a:p>
          <a:p>
            <a:pPr>
              <a:defRPr sz="730">
                <a:solidFill>
                  <a:srgbClr val="334155"/>
                </a:solidFill>
              </a:defRPr>
            </a:pPr>
            <a:r>
              <a:t>• J4 (Rejection): Rejects loan with reason code ➔ verifies alert queue entry.</a:t>
            </a:r>
          </a:p>
          <a:p>
            <a:pPr>
              <a:defRPr sz="730">
                <a:solidFill>
                  <a:srgbClr val="334155"/>
                </a:solidFill>
              </a:defRPr>
            </a:pPr>
            <a:r>
              <a:t>• J5 (Low Risk): CIBIL=820, FOIR ~13% ➔ verifies PRE_APPROVED.</a:t>
            </a:r>
          </a:p>
          <a:p>
            <a:pPr>
              <a:defRPr sz="730">
                <a:solidFill>
                  <a:srgbClr val="334155"/>
                </a:solidFill>
              </a:defRPr>
            </a:pPr>
            <a:r>
              <a:t>• J6 (High Risk): CIBIL=580 ➔ verifies auto-tag HIGH_RISK_EXCEPTION.</a:t>
            </a:r>
          </a:p>
          <a:p>
            <a:pPr>
              <a:defRPr sz="730">
                <a:solidFill>
                  <a:srgbClr val="334155"/>
                </a:solidFill>
              </a:defRPr>
            </a:pPr>
            <a:r>
              <a:t>• J7 (Borrower): User login ➔ tracks application ➔ verifies read-only stages.</a:t>
            </a:r>
          </a:p>
          <a:p>
            <a:pPr>
              <a:defRPr sz="730">
                <a:solidFill>
                  <a:srgbClr val="334155"/>
                </a:solidFill>
              </a:defRPr>
            </a:pPr>
            <a:r>
              <a:t>• J8 (Admin): Admin login ➔ approves loan with remarks ➔ reviews alerts.</a:t>
            </a:r>
          </a:p>
          <a:p>
            <a:pPr>
              <a:defRPr sz="730">
                <a:solidFill>
                  <a:srgbClr val="334155"/>
                </a:solidFill>
              </a:defRPr>
            </a:pPr>
            <a:r>
              <a:t>• J9 (Security): Asserts unauthenticated visitor is blocked with zero tabs shown.</a:t>
            </a:r>
          </a:p>
          <a:p>
            <a:pPr>
              <a:defRPr sz="780" b="1">
                <a:solidFill>
                  <a:srgbClr val="16A34A"/>
                </a:solidFill>
              </a:defRPr>
            </a:pPr>
            <a:r>
              <a:t>TOTAL SUITE: 27 / 27 Tests Passed (100% Quality Gate Pass Rate)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293983" y="1645920"/>
            <a:ext cx="3459861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385423" y="1719072"/>
            <a:ext cx="3276981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tIns="36576"/>
          <a:lstStyle/>
          <a:p>
            <a:pPr algn="ctr">
              <a:defRPr b="1" sz="950">
                <a:solidFill>
                  <a:srgbClr val="1A56A4"/>
                </a:solidFill>
              </a:defRPr>
            </a:pPr>
            <a:r>
              <a:t>[📊]  TELEMETRY &amp; PORTFOLIO METRICS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85423" y="2029968"/>
            <a:ext cx="3276981" cy="159105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850" b="1">
                <a:solidFill>
                  <a:srgbClr val="0F172A"/>
                </a:solidFill>
              </a:defRPr>
            </a:pPr>
            <a:r>
              <a:t>REAL-TIME CI/CD &amp; APPLICATION TELEMETRY:</a:t>
            </a:r>
          </a:p>
          <a:p>
            <a:pPr>
              <a:defRPr sz="800">
                <a:solidFill>
                  <a:srgbClr val="334155"/>
                </a:solidFill>
              </a:defRPr>
            </a:pPr>
            <a:r>
              <a:t>• 27 / 27 Automated Tests Passing (Unit, Service, E2E)</a:t>
            </a:r>
            <a:br/>
            <a:r>
              <a:t>• 100% Zero-Defect Quality Gate Pass Rate</a:t>
            </a:r>
            <a:br/>
            <a:r>
              <a:t>• &lt; 15 Seconds Automated Rollback MTTR</a:t>
            </a:r>
            <a:br/>
            <a:r>
              <a:t>• 0 Production Deployment Failures</a:t>
            </a:r>
          </a:p>
          <a:p>
            <a:pPr>
              <a:defRPr sz="780" b="1">
                <a:solidFill>
                  <a:srgbClr val="16A34A"/>
                </a:solidFill>
              </a:defRPr>
            </a:pPr>
            <a:r>
              <a:t>• Actuator Endpoint: /actuator/health returns {"status":"UP"}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293983" y="3822192"/>
            <a:ext cx="3459861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385423" y="3895344"/>
            <a:ext cx="3276981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tIns="36576"/>
          <a:lstStyle/>
          <a:p>
            <a:pPr algn="ctr">
              <a:defRPr b="1" sz="950">
                <a:solidFill>
                  <a:srgbClr val="1A56A4"/>
                </a:solidFill>
              </a:defRPr>
            </a:pPr>
            <a:r>
              <a:t>[🐳]  DOCKER MULTI-STAGE &amp; ISOLATION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85423" y="4206240"/>
            <a:ext cx="3276981" cy="195681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850" b="1">
                <a:solidFill>
                  <a:srgbClr val="0F172A"/>
                </a:solidFill>
              </a:defRPr>
            </a:pPr>
            <a:r>
              <a:t>HARDENED MULTI-STAGE CONTAINER ARCHITECTURE:</a:t>
            </a:r>
          </a:p>
          <a:p>
            <a:pPr>
              <a:defRPr sz="780">
                <a:solidFill>
                  <a:srgbClr val="334155"/>
                </a:solidFill>
              </a:defRPr>
            </a:pPr>
            <a:r>
              <a:t>• Stage 1 (Builder): Maven 3.9 + Eclipse-Temurin JDK 17.</a:t>
            </a:r>
            <a:br/>
            <a:r>
              <a:t>• Stage 2 (Runtime): Minimal Eclipse-Temurin 17 JRE Alpine (&lt;200MB).</a:t>
            </a:r>
            <a:br/>
            <a:r>
              <a:t>• Security Hardening: Runs under non-root appuser:appgroup.</a:t>
            </a:r>
          </a:p>
          <a:p>
            <a:pPr>
              <a:defRPr sz="780" b="1">
                <a:solidFill>
                  <a:srgbClr val="1A56A4"/>
                </a:solidFill>
              </a:defRPr>
            </a:pPr>
            <a:r>
              <a:t>PORT ISOLATION MATRIX:</a:t>
            </a:r>
            <a:br/>
            <a:r>
              <a:t>• Port 8080 ➔ Jenkins CI/CD Controller</a:t>
            </a:r>
            <a:br/>
            <a:r>
              <a:t>• Port 8081 ➔ Loan Tracking Application Service</a:t>
            </a:r>
            <a:br/>
            <a:r>
              <a:t>• Port 22   ➔ SSH / Ansible Automation Node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1293983" y="6364224"/>
            <a:ext cx="3459861" cy="364205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1385423" y="6437376"/>
            <a:ext cx="3276981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tIns="36576"/>
          <a:lstStyle/>
          <a:p>
            <a:pPr algn="ctr">
              <a:defRPr b="1" sz="950">
                <a:solidFill>
                  <a:srgbClr val="1A56A4"/>
                </a:solidFill>
              </a:defRPr>
            </a:pPr>
            <a:r>
              <a:t>[🔧]  ANSIBLE IAC &amp; DISASTER RECOVERY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85423" y="6748272"/>
            <a:ext cx="3276981" cy="3221431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850" b="1">
                <a:solidFill>
                  <a:srgbClr val="0F172A"/>
                </a:solidFill>
              </a:defRPr>
            </a:pPr>
            <a:r>
              <a:t>IDEMPOTENT PROVISIONING &amp; INSTANT ROLLBACK:</a:t>
            </a:r>
          </a:p>
          <a:p>
            <a:pPr>
              <a:defRPr sz="780">
                <a:solidFill>
                  <a:srgbClr val="334155"/>
                </a:solidFill>
              </a:defRPr>
            </a:pPr>
            <a:r>
              <a:t>• Ansible Playbook configures OS packages, directories, and dependencies with zero configuration drift (changed=0 on rerun).</a:t>
            </a:r>
          </a:p>
          <a:p>
            <a:pPr>
              <a:defRPr sz="780">
                <a:solidFill>
                  <a:srgbClr val="334155"/>
                </a:solidFill>
              </a:defRPr>
            </a:pPr>
            <a:r>
              <a:t>• Sub-15s Rollback Automation (Task 14 Deliverable):</a:t>
            </a:r>
            <a:br/>
            <a:r>
              <a:t>  powershell -File scripts\verify_reliability.ps1</a:t>
            </a:r>
            <a:br/>
            <a:r>
              <a:t>  Restores previous container image loan-portal:v1.0.0 upon failure.</a:t>
            </a:r>
          </a:p>
          <a:p>
            <a:pPr>
              <a:defRPr sz="780" b="1">
                <a:solidFill>
                  <a:srgbClr val="1A56A4"/>
                </a:solidFill>
              </a:defRPr>
            </a:pPr>
            <a:r>
              <a:t>DEFAULT DEMO ACCOUNTS:</a:t>
            </a:r>
            <a:br/>
            <a:r>
              <a:t>• Borrower: user / user123 (My Applications Portal)</a:t>
            </a:r>
            <a:br/>
            <a:r>
              <a:t>• Officer:  admin / admin123 (Bank Management Console)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65760" y="10097719"/>
            <a:ext cx="14388084" cy="457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73152" rIns="182880" bIns="73152"/>
          <a:lstStyle/>
          <a:p>
            <a:pPr algn="ctr">
              <a:defRPr b="1" sz="950">
                <a:solidFill>
                  <a:srgbClr val="0F172A"/>
                </a:solidFill>
              </a:defRPr>
            </a:pPr>
            <a:r>
              <a:t>Project: Secure CI/CD Pipeline for a Loan Application Tracking Portal  |  Candidate: Vicky Vilas Pukale (Roll: 23102A0033)  |  Repo: github.com/vickypukale/loan-application-tracking-portal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